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6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7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6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8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4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7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6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7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60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4141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5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3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46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0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9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2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4855"/>
            <a:ext cx="8229600" cy="4228537"/>
          </a:xfrm>
        </p:spPr>
        <p:txBody>
          <a:bodyPr>
            <a:normAutofit/>
          </a:bodyPr>
          <a:lstStyle/>
          <a:p>
            <a:r>
              <a:rPr lang="en-MY" sz="2800" dirty="0"/>
              <a:t>Annona Muricata sp. </a:t>
            </a:r>
            <a:br>
              <a:rPr lang="en-MY" sz="2800" dirty="0"/>
            </a:br>
            <a:r>
              <a:rPr lang="en-MY" sz="2800" dirty="0"/>
              <a:t>(Soursop / Durian Belanda)</a:t>
            </a:r>
            <a:br>
              <a:rPr lang="en-MY" sz="2800" dirty="0"/>
            </a:br>
            <a:br>
              <a:rPr lang="en-MY" sz="2800" dirty="0"/>
            </a:br>
            <a:r>
              <a:rPr sz="2800" dirty="0"/>
              <a:t>Request for </a:t>
            </a:r>
            <a:br>
              <a:rPr lang="en-MY" sz="2800" dirty="0"/>
            </a:br>
            <a:r>
              <a:rPr sz="2800" dirty="0"/>
              <a:t>Research </a:t>
            </a:r>
            <a:r>
              <a:rPr lang="en-MY" sz="2800" dirty="0"/>
              <a:t>and Development</a:t>
            </a:r>
            <a:r>
              <a:rPr sz="2800" dirty="0"/>
              <a:t> Support</a:t>
            </a:r>
          </a:p>
        </p:txBody>
      </p:sp>
      <p:pic>
        <p:nvPicPr>
          <p:cNvPr id="1029" name="Picture 1" descr="A close-up of a leaf&#10;&#10;Description automatically generated">
            <a:extLst>
              <a:ext uri="{FF2B5EF4-FFF2-40B4-BE49-F238E27FC236}">
                <a16:creationId xmlns:a16="http://schemas.microsoft.com/office/drawing/2014/main" id="{40C65025-F6F9-35CE-683C-664CC1629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621" y="258314"/>
            <a:ext cx="1469204" cy="103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9">
            <a:extLst>
              <a:ext uri="{FF2B5EF4-FFF2-40B4-BE49-F238E27FC236}">
                <a16:creationId xmlns:a16="http://schemas.microsoft.com/office/drawing/2014/main" id="{035861E2-CA76-70B9-8E72-35CA36B52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038" y="316594"/>
            <a:ext cx="940404" cy="94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9">
            <a:extLst>
              <a:ext uri="{FF2B5EF4-FFF2-40B4-BE49-F238E27FC236}">
                <a16:creationId xmlns:a16="http://schemas.microsoft.com/office/drawing/2014/main" id="{3C3DFB48-48F1-1816-A232-08971B0F4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69" y="5386153"/>
            <a:ext cx="523164" cy="66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3">
            <a:extLst>
              <a:ext uri="{FF2B5EF4-FFF2-40B4-BE49-F238E27FC236}">
                <a16:creationId xmlns:a16="http://schemas.microsoft.com/office/drawing/2014/main" id="{25284DD4-5E5B-8476-A9F8-06CBD98D5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156" y="5403465"/>
            <a:ext cx="647071" cy="60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0">
            <a:extLst>
              <a:ext uri="{FF2B5EF4-FFF2-40B4-BE49-F238E27FC236}">
                <a16:creationId xmlns:a16="http://schemas.microsoft.com/office/drawing/2014/main" id="{CAE5176F-9507-D0E9-4ED3-6D7EA9148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426" y="5540066"/>
            <a:ext cx="963725" cy="33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4AD30785-991C-6736-DA19-8FFD4769D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E3A4788-3679-22B9-A9EE-B05945CA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961" y="819560"/>
            <a:ext cx="45520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SEPRI NATURAL PRODUCTS SDN. BHD. 1146510-H.                 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A68F5B6-70F2-FD13-5C33-2BEF2FB5C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4463" y="2133600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22F6D80-2ECE-DFB0-3CB5-DFC8E0CB1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4463" y="3200400"/>
            <a:ext cx="91440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E4E6FA3-9D9F-67AF-6F86-FF8EC7C5D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4463" y="4521200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15046410-D5AE-00AB-5145-D043BF9F8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728" y="5403465"/>
            <a:ext cx="1317557" cy="66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0E0CA198-7516-4079-1C51-081812B3B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37" y="0"/>
            <a:ext cx="8428974" cy="62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220" y="343464"/>
            <a:ext cx="8229600" cy="1143000"/>
          </a:xfrm>
        </p:spPr>
        <p:txBody>
          <a:bodyPr>
            <a:normAutofit/>
          </a:bodyPr>
          <a:lstStyle/>
          <a:p>
            <a:r>
              <a:rPr lang="en-MY" dirty="0"/>
              <a:t>Phytochemistry Analysis and </a:t>
            </a:r>
            <a:br>
              <a:rPr lang="en-MY" dirty="0"/>
            </a:br>
            <a:r>
              <a:rPr lang="en-MY" dirty="0"/>
              <a:t>Cancer Care Application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7573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Phytochemical profiling</a:t>
            </a:r>
            <a:r>
              <a:rPr lang="en-MY" dirty="0"/>
              <a:t> of mature and young leaves</a:t>
            </a:r>
          </a:p>
          <a:p>
            <a:endParaRPr lang="en-MY" dirty="0"/>
          </a:p>
          <a:p>
            <a:r>
              <a:rPr lang="en-MY" dirty="0"/>
              <a:t>Toxicology study </a:t>
            </a:r>
          </a:p>
          <a:p>
            <a:endParaRPr lang="en-MY" dirty="0"/>
          </a:p>
          <a:p>
            <a:r>
              <a:rPr lang="en-MY" dirty="0"/>
              <a:t>Post Chemo and Radio recovery </a:t>
            </a:r>
          </a:p>
          <a:p>
            <a:pPr marL="0" indent="0">
              <a:buNone/>
            </a:pPr>
            <a:endParaRPr lang="en-MY" dirty="0"/>
          </a:p>
          <a:p>
            <a:r>
              <a:rPr lang="en-MY" dirty="0"/>
              <a:t>Adjunct therapy in cancer care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27ABD0-F797-95DD-FB66-F39ED2B3D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8662" y="4191794"/>
            <a:ext cx="3137595" cy="2090913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2284-3ADA-1304-E25E-5056A2F7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CA2B-0225-617A-A74F-F86D541D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Phytochemistry Analysis and Functional Medicine Correlation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92440-7319-E99B-7814-A7A0C663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99219"/>
            <a:ext cx="8229600" cy="4525963"/>
          </a:xfrm>
        </p:spPr>
        <p:txBody>
          <a:bodyPr/>
          <a:lstStyle/>
          <a:p>
            <a:r>
              <a:rPr dirty="0"/>
              <a:t>Phytochemistry </a:t>
            </a:r>
            <a:r>
              <a:rPr lang="en-MY" dirty="0"/>
              <a:t>profiling of semi-ripen and fully ripen fruit powder or extract </a:t>
            </a:r>
          </a:p>
          <a:p>
            <a:endParaRPr dirty="0"/>
          </a:p>
          <a:p>
            <a:r>
              <a:rPr lang="en-MY" dirty="0"/>
              <a:t>Toxicology study</a:t>
            </a:r>
          </a:p>
          <a:p>
            <a:pPr marL="0" indent="0">
              <a:buNone/>
            </a:pPr>
            <a:endParaRPr lang="en-MY" dirty="0"/>
          </a:p>
          <a:p>
            <a:r>
              <a:rPr lang="en-MY" dirty="0"/>
              <a:t>Functional Medicine correlation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1F680-0669-6C47-72DC-D7F52D2DC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7648"/>
          <a:stretch>
            <a:fillRect/>
          </a:stretch>
        </p:blipFill>
        <p:spPr>
          <a:xfrm>
            <a:off x="6919832" y="2631625"/>
            <a:ext cx="2061647" cy="3918154"/>
          </a:xfrm>
          <a:prstGeom prst="ellipse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4145927-9363-F8CA-66D2-784B9A7D9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918" y="2712268"/>
            <a:ext cx="2897312" cy="193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17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E75EE-8DA0-54A0-2C32-0861DAC8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706" y="1147465"/>
            <a:ext cx="3292866" cy="16432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Phytochemistry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72168" cy="4525963"/>
          </a:xfrm>
        </p:spPr>
        <p:txBody>
          <a:bodyPr>
            <a:normAutofit/>
          </a:bodyPr>
          <a:lstStyle/>
          <a:p>
            <a:r>
              <a:rPr lang="en-MY" dirty="0"/>
              <a:t>concentration and c</a:t>
            </a:r>
            <a:r>
              <a:rPr dirty="0"/>
              <a:t>haracterisation of </a:t>
            </a:r>
            <a:r>
              <a:rPr dirty="0" err="1"/>
              <a:t>acetogenins</a:t>
            </a:r>
            <a:r>
              <a:rPr dirty="0"/>
              <a:t> (</a:t>
            </a:r>
            <a:r>
              <a:rPr dirty="0" err="1"/>
              <a:t>Bullatacin</a:t>
            </a:r>
            <a:r>
              <a:rPr dirty="0"/>
              <a:t>, Annonacin)</a:t>
            </a:r>
            <a:endParaRPr lang="en-MY" dirty="0"/>
          </a:p>
          <a:p>
            <a:endParaRPr dirty="0"/>
          </a:p>
          <a:p>
            <a:r>
              <a:rPr dirty="0"/>
              <a:t>Alkaloids (</a:t>
            </a:r>
            <a:r>
              <a:rPr dirty="0" err="1"/>
              <a:t>Annonaine</a:t>
            </a:r>
            <a:r>
              <a:rPr dirty="0"/>
              <a:t>) and other </a:t>
            </a:r>
            <a:r>
              <a:rPr dirty="0" err="1"/>
              <a:t>bioactives</a:t>
            </a:r>
            <a:endParaRPr lang="en-MY" dirty="0"/>
          </a:p>
          <a:p>
            <a:endParaRPr dirty="0"/>
          </a:p>
          <a:p>
            <a:r>
              <a:rPr lang="en-MY" dirty="0"/>
              <a:t>A</a:t>
            </a:r>
            <a:r>
              <a:rPr dirty="0" err="1"/>
              <a:t>ntioxidant</a:t>
            </a:r>
            <a:r>
              <a:rPr lang="en-MY" dirty="0"/>
              <a:t> &amp;</a:t>
            </a:r>
            <a:r>
              <a:rPr dirty="0"/>
              <a:t> anti-inflammatory</a:t>
            </a:r>
            <a:r>
              <a:rPr lang="en-MY" dirty="0"/>
              <a:t> Potency</a:t>
            </a:r>
            <a:r>
              <a:rPr dirty="0"/>
              <a:t> and cytotoxic pathways</a:t>
            </a:r>
            <a:endParaRPr lang="en-MY" dirty="0"/>
          </a:p>
          <a:p>
            <a:pPr marL="0" indent="0">
              <a:buNone/>
            </a:pPr>
            <a:endParaRPr dirty="0"/>
          </a:p>
          <a:p>
            <a:r>
              <a:rPr dirty="0"/>
              <a:t>Comparison with known chemotherapeutic reference compounds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26905"/>
            <a:ext cx="7773338" cy="1596177"/>
          </a:xfrm>
        </p:spPr>
        <p:txBody>
          <a:bodyPr/>
          <a:lstStyle/>
          <a:p>
            <a:r>
              <a:rPr dirty="0"/>
              <a:t>Functional Medicine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480" y="1442862"/>
            <a:ext cx="7773339" cy="3787899"/>
          </a:xfrm>
        </p:spPr>
        <p:txBody>
          <a:bodyPr>
            <a:normAutofit fontScale="92500" lnSpcReduction="10000"/>
          </a:bodyPr>
          <a:lstStyle/>
          <a:p>
            <a:r>
              <a:rPr lang="en-MY" dirty="0"/>
              <a:t>ANCIENT RESISITANCE STARCH &amp; COMPLEX CARBOHYDRATE (PALEO-PREBIOTICS) RELEVANCE IN "Microbiota-Gut-Brain Axis"</a:t>
            </a:r>
            <a:endParaRPr dirty="0"/>
          </a:p>
          <a:p>
            <a:r>
              <a:rPr dirty="0"/>
              <a:t>Buccal &amp; </a:t>
            </a:r>
            <a:r>
              <a:rPr lang="en-MY" dirty="0"/>
              <a:t>Sublingual </a:t>
            </a:r>
            <a:r>
              <a:rPr dirty="0"/>
              <a:t>modality for rapid absorption</a:t>
            </a:r>
            <a:r>
              <a:rPr lang="en-MY" dirty="0"/>
              <a:t> via       PLANT-BASED soft-pastilles delivery</a:t>
            </a:r>
          </a:p>
          <a:p>
            <a:endParaRPr lang="en-MY" dirty="0"/>
          </a:p>
          <a:p>
            <a:r>
              <a:rPr lang="en-MY" dirty="0"/>
              <a:t>Immune-modulatory pathways</a:t>
            </a:r>
          </a:p>
          <a:p>
            <a:r>
              <a:rPr lang="en-MY" dirty="0"/>
              <a:t>Anti-inflammatory pathways</a:t>
            </a:r>
          </a:p>
          <a:p>
            <a:r>
              <a:rPr lang="en-MY" dirty="0"/>
              <a:t>Oral Hygiene pathways </a:t>
            </a:r>
          </a:p>
          <a:p>
            <a:r>
              <a:rPr lang="en-MY" dirty="0"/>
              <a:t>Complementary cancer remission support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1F520-0231-FD32-52A4-2D322471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17" b="12293"/>
          <a:stretch>
            <a:fillRect/>
          </a:stretch>
        </p:blipFill>
        <p:spPr>
          <a:xfrm>
            <a:off x="6636774" y="3457772"/>
            <a:ext cx="2167603" cy="3158999"/>
          </a:xfrm>
          <a:prstGeom prst="ellipse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4E09EE-D838-0992-CFA4-EB732FAFF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490" y="5324355"/>
            <a:ext cx="1811710" cy="1406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378542"/>
            <a:ext cx="7773338" cy="958645"/>
          </a:xfrm>
        </p:spPr>
        <p:txBody>
          <a:bodyPr/>
          <a:lstStyle/>
          <a:p>
            <a:r>
              <a:rPr dirty="0"/>
              <a:t>Safety &amp; Toxicology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9258"/>
          </a:xfrm>
        </p:spPr>
        <p:txBody>
          <a:bodyPr>
            <a:normAutofit/>
          </a:bodyPr>
          <a:lstStyle/>
          <a:p>
            <a:r>
              <a:rPr dirty="0"/>
              <a:t>Acute &amp; chronic toxicity assessment</a:t>
            </a:r>
            <a:endParaRPr lang="en-MY" dirty="0"/>
          </a:p>
          <a:p>
            <a:endParaRPr dirty="0"/>
          </a:p>
          <a:p>
            <a:r>
              <a:rPr dirty="0"/>
              <a:t>NPRA</a:t>
            </a:r>
            <a:r>
              <a:rPr lang="en-MY" dirty="0"/>
              <a:t> </a:t>
            </a:r>
            <a:r>
              <a:rPr dirty="0"/>
              <a:t>alignment for botanical extracts</a:t>
            </a:r>
            <a:endParaRPr lang="en-MY" dirty="0"/>
          </a:p>
          <a:p>
            <a:endParaRPr dirty="0"/>
          </a:p>
          <a:p>
            <a:r>
              <a:rPr dirty="0"/>
              <a:t>Safe dosage determination</a:t>
            </a:r>
            <a:endParaRPr lang="en-MY" dirty="0"/>
          </a:p>
          <a:p>
            <a:endParaRPr dirty="0"/>
          </a:p>
          <a:p>
            <a:r>
              <a:rPr dirty="0"/>
              <a:t>Heavy metals</a:t>
            </a:r>
            <a:r>
              <a:rPr lang="en-MY" dirty="0"/>
              <a:t>, </a:t>
            </a:r>
            <a:r>
              <a:rPr dirty="0"/>
              <a:t>pesticides</a:t>
            </a:r>
            <a:r>
              <a:rPr lang="en-MY" dirty="0"/>
              <a:t> and herbicides exclusion </a:t>
            </a:r>
          </a:p>
          <a:p>
            <a:pPr marL="0" indent="0">
              <a:buNone/>
            </a:pPr>
            <a:endParaRPr lang="en-MY" dirty="0"/>
          </a:p>
          <a:p>
            <a:r>
              <a:rPr lang="en-MY" dirty="0"/>
              <a:t>Microbial </a:t>
            </a:r>
            <a:r>
              <a:rPr dirty="0"/>
              <a:t>safety 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499D2834-2081-A744-71D2-0787CEF63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957" y="4552862"/>
            <a:ext cx="963725" cy="33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89745"/>
            <a:ext cx="7773338" cy="1596177"/>
          </a:xfrm>
        </p:spPr>
        <p:txBody>
          <a:bodyPr>
            <a:normAutofit/>
          </a:bodyPr>
          <a:lstStyle/>
          <a:p>
            <a:r>
              <a:rPr lang="en-MY" dirty="0"/>
              <a:t>Guiding </a:t>
            </a:r>
            <a:r>
              <a:rPr lang="en-MY" dirty="0" err="1"/>
              <a:t>Sepri</a:t>
            </a:r>
            <a:r>
              <a:rPr lang="en-MY" dirty="0"/>
              <a:t> Organics</a:t>
            </a:r>
            <a:br>
              <a:rPr lang="en-MY" dirty="0"/>
            </a:br>
            <a:r>
              <a:rPr lang="en-MY" dirty="0"/>
              <a:t> Towards </a:t>
            </a:r>
            <a:r>
              <a:rPr dirty="0"/>
              <a:t>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2292"/>
            <a:ext cx="8229600" cy="4525963"/>
          </a:xfrm>
        </p:spPr>
        <p:txBody>
          <a:bodyPr/>
          <a:lstStyle/>
          <a:p>
            <a:r>
              <a:rPr dirty="0"/>
              <a:t>Laboratory-based phytochemical </a:t>
            </a:r>
            <a:r>
              <a:rPr lang="en-MY" dirty="0"/>
              <a:t>identification</a:t>
            </a:r>
          </a:p>
          <a:p>
            <a:pPr marL="0" indent="0">
              <a:buNone/>
            </a:pPr>
            <a:r>
              <a:rPr lang="en-MY" dirty="0"/>
              <a:t> </a:t>
            </a:r>
            <a:endParaRPr dirty="0"/>
          </a:p>
          <a:p>
            <a:r>
              <a:rPr dirty="0"/>
              <a:t>Quantification of key metabolites</a:t>
            </a:r>
            <a:endParaRPr lang="en-MY" dirty="0"/>
          </a:p>
          <a:p>
            <a:pPr marL="0" indent="0">
              <a:buNone/>
            </a:pPr>
            <a:endParaRPr dirty="0"/>
          </a:p>
          <a:p>
            <a:r>
              <a:rPr dirty="0"/>
              <a:t>Preclinical safety </a:t>
            </a:r>
            <a:r>
              <a:rPr lang="en-MY" dirty="0"/>
              <a:t>and</a:t>
            </a:r>
            <a:r>
              <a:rPr dirty="0"/>
              <a:t> </a:t>
            </a:r>
            <a:r>
              <a:rPr lang="en-MY" dirty="0"/>
              <a:t>mode of action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Joint publication opportunities</a:t>
            </a: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C486B2D9-EA5A-A70E-CB7D-9C1CBC020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225" y="2554663"/>
            <a:ext cx="2045616" cy="204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672C90-86AF-C0E5-F7C9-A8CF3E81AB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08"/>
          <a:stretch/>
        </p:blipFill>
        <p:spPr>
          <a:xfrm>
            <a:off x="7260527" y="1239886"/>
            <a:ext cx="1426273" cy="1625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38374"/>
            <a:ext cx="7773338" cy="1596177"/>
          </a:xfrm>
        </p:spPr>
        <p:txBody>
          <a:bodyPr/>
          <a:lstStyle/>
          <a:p>
            <a:r>
              <a:rPr dirty="0"/>
              <a:t>Our Platform </a:t>
            </a:r>
            <a:r>
              <a:rPr lang="en-MY" dirty="0"/>
              <a:t>and Promise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4551"/>
            <a:ext cx="8229600" cy="4525963"/>
          </a:xfrm>
        </p:spPr>
        <p:txBody>
          <a:bodyPr/>
          <a:lstStyle/>
          <a:p>
            <a:r>
              <a:rPr lang="en-MY" dirty="0"/>
              <a:t>Certified </a:t>
            </a:r>
            <a:r>
              <a:rPr dirty="0"/>
              <a:t>Farm-to-Pharmacy model</a:t>
            </a:r>
            <a:endParaRPr lang="en-MY" dirty="0"/>
          </a:p>
          <a:p>
            <a:endParaRPr dirty="0"/>
          </a:p>
          <a:p>
            <a:r>
              <a:rPr dirty="0"/>
              <a:t>Organic cultivation partnership with </a:t>
            </a:r>
            <a:r>
              <a:rPr lang="en-MY" dirty="0"/>
              <a:t>department of agriculture (</a:t>
            </a:r>
            <a:r>
              <a:rPr lang="en-MY" dirty="0" err="1"/>
              <a:t>doa</a:t>
            </a:r>
            <a:r>
              <a:rPr lang="en-MY" dirty="0"/>
              <a:t>)</a:t>
            </a:r>
          </a:p>
          <a:p>
            <a:endParaRPr dirty="0"/>
          </a:p>
          <a:p>
            <a:r>
              <a:rPr dirty="0"/>
              <a:t>FSSC/ISO22000 facility for clean-label formulations</a:t>
            </a:r>
            <a:r>
              <a:rPr lang="en-MY" dirty="0"/>
              <a:t> with   Utara Dietetics and Plant-Based Research</a:t>
            </a:r>
          </a:p>
          <a:p>
            <a:pPr marL="0" indent="0">
              <a:buNone/>
            </a:pPr>
            <a:endParaRPr dirty="0"/>
          </a:p>
          <a:p>
            <a:r>
              <a:rPr lang="en-MY" dirty="0"/>
              <a:t>Plant-based</a:t>
            </a:r>
            <a:r>
              <a:rPr dirty="0"/>
              <a:t> soft pastille delivery for higher bioavailability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25535-1786-6DDF-121D-94DB76B53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10168" y="4375355"/>
            <a:ext cx="1400075" cy="1400075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Why This </a:t>
            </a:r>
            <a:r>
              <a:rPr lang="en-MY" dirty="0"/>
              <a:t>Research and </a:t>
            </a:r>
            <a:r>
              <a:rPr dirty="0"/>
              <a:t>Collaboration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Growing global interest in Annona muricata</a:t>
            </a:r>
            <a:r>
              <a:rPr lang="en-MY" dirty="0"/>
              <a:t>’s</a:t>
            </a:r>
            <a:r>
              <a:rPr dirty="0"/>
              <a:t> </a:t>
            </a:r>
            <a:r>
              <a:rPr lang="en-MY" dirty="0"/>
              <a:t>phytochemistry and phytonutrients</a:t>
            </a:r>
          </a:p>
          <a:p>
            <a:endParaRPr dirty="0"/>
          </a:p>
          <a:p>
            <a:r>
              <a:rPr dirty="0"/>
              <a:t>Need for validated, safe, evidence‑based applications</a:t>
            </a:r>
            <a:endParaRPr lang="en-MY" dirty="0"/>
          </a:p>
          <a:p>
            <a:pPr marL="0" indent="0">
              <a:buNone/>
            </a:pPr>
            <a:endParaRPr dirty="0"/>
          </a:p>
          <a:p>
            <a:r>
              <a:rPr dirty="0"/>
              <a:t>Opportunity for Malaysia-led botanical biomedical innovation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4695"/>
            <a:ext cx="8229600" cy="3971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We welcome:</a:t>
            </a:r>
          </a:p>
          <a:p>
            <a:r>
              <a:rPr dirty="0"/>
              <a:t>Technical guidance</a:t>
            </a:r>
          </a:p>
          <a:p>
            <a:r>
              <a:rPr dirty="0"/>
              <a:t>Formal research collaboration</a:t>
            </a:r>
            <a:r>
              <a:rPr lang="en-MY" dirty="0"/>
              <a:t> / funding</a:t>
            </a:r>
            <a:endParaRPr dirty="0"/>
          </a:p>
          <a:p>
            <a:r>
              <a:rPr dirty="0"/>
              <a:t>Access to laboratory resources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Prepared by: </a:t>
            </a:r>
            <a:r>
              <a:rPr lang="en-MY" dirty="0"/>
              <a:t>Sepri Organics </a:t>
            </a:r>
          </a:p>
          <a:p>
            <a:pPr marL="0" indent="0">
              <a:buNone/>
            </a:pPr>
            <a:br>
              <a:rPr lang="en-MY" dirty="0"/>
            </a:br>
            <a:r>
              <a:rPr lang="en-MY" dirty="0"/>
              <a:t>Supported by </a:t>
            </a:r>
            <a:r>
              <a:rPr dirty="0"/>
              <a:t>Future Foods™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2E0DC3B3-4A2C-A766-5589-ECCFCDB5A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213" y="4291462"/>
            <a:ext cx="940404" cy="94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F9EC76-FE44-F52B-1F49-C4CE7F9E9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259" y="5463666"/>
            <a:ext cx="940404" cy="940404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F674-1F49-D890-CDE8-850E880D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Thank you</a:t>
            </a:r>
          </a:p>
        </p:txBody>
      </p:sp>
      <p:pic>
        <p:nvPicPr>
          <p:cNvPr id="7172" name="Picture 4" descr="National Institutes of Health - NIH Official Portal">
            <a:extLst>
              <a:ext uri="{FF2B5EF4-FFF2-40B4-BE49-F238E27FC236}">
                <a16:creationId xmlns:a16="http://schemas.microsoft.com/office/drawing/2014/main" id="{83B5DFF8-F531-D1FC-A38D-9D737A2C9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892" y="3684964"/>
            <a:ext cx="3150989" cy="1956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r-logo | Project Lepto">
            <a:extLst>
              <a:ext uri="{FF2B5EF4-FFF2-40B4-BE49-F238E27FC236}">
                <a16:creationId xmlns:a16="http://schemas.microsoft.com/office/drawing/2014/main" id="{46AB1E6B-5ADD-63D6-62B9-9467555F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422" y="3684964"/>
            <a:ext cx="2304592" cy="121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68044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{E16B94C5-6350-9C41-BB90-91C13D195B80}tf10001073_mac</Template>
  <TotalTime>164</TotalTime>
  <Words>307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Tw Cen MT</vt:lpstr>
      <vt:lpstr>Droplet</vt:lpstr>
      <vt:lpstr>Annona Muricata sp.  (Soursop / Durian Belanda)  Request for  Research and Development Support</vt:lpstr>
      <vt:lpstr>Phytochemistry Analysis and  Cancer Care Application</vt:lpstr>
      <vt:lpstr>Phytochemistry Analysis and Functional Medicine Correlation </vt:lpstr>
      <vt:lpstr>Phytochemistry Focus</vt:lpstr>
      <vt:lpstr>Functional Medicine Applications</vt:lpstr>
      <vt:lpstr>Safety &amp; Toxicology Needs</vt:lpstr>
      <vt:lpstr>Guiding Sepri Organics  Towards Collaboration</vt:lpstr>
      <vt:lpstr>Our Platform and Promise</vt:lpstr>
      <vt:lpstr>Why This Research and Collaboration Matters</vt:lpstr>
      <vt:lpstr>Contact &amp; Next Steps</vt:lpstr>
      <vt:lpstr>End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Annona Muricata sp.  (Soursop / Durian Belanda)  Request for  Research and Development Support</dc:title>
  <dc:subject/>
  <dc:creator>suhanya karthigesu</dc:creator>
  <cp:keywords/>
  <dc:description>generated using python-pptx</dc:description>
  <cp:lastModifiedBy>suhanya karthigesu</cp:lastModifiedBy>
  <cp:revision>9</cp:revision>
  <dcterms:created xsi:type="dcterms:W3CDTF">2013-01-27T09:14:16Z</dcterms:created>
  <dcterms:modified xsi:type="dcterms:W3CDTF">2025-12-10T01:10:57Z</dcterms:modified>
  <cp:category/>
</cp:coreProperties>
</file>